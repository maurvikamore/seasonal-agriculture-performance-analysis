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1634" autoAdjust="0"/>
  </p:normalViewPr>
  <p:slideViewPr>
    <p:cSldViewPr snapToGrid="0">
      <p:cViewPr varScale="1">
        <p:scale>
          <a:sx n="75" d="100"/>
          <a:sy n="75" d="100"/>
        </p:scale>
        <p:origin x="974" y="8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54716" y="2844750"/>
            <a:ext cx="9435733" cy="743448"/>
          </a:xfrm>
        </p:spPr>
        <p:txBody>
          <a:bodyPr>
            <a:normAutofit fontScale="90000"/>
          </a:bodyPr>
          <a:lstStyle/>
          <a:p>
            <a:r>
              <a:rPr lang="en-GB" sz="3200" dirty="0"/>
              <a:t>Project Title - </a:t>
            </a:r>
            <a:r>
              <a:rPr lang="en-IN"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54716" y="4948426"/>
            <a:ext cx="6328637" cy="384721"/>
          </a:xfrm>
          <a:prstGeom prst="rect">
            <a:avLst/>
          </a:prstGeom>
          <a:noFill/>
        </p:spPr>
        <p:txBody>
          <a:bodyPr wrap="square" rtlCol="0">
            <a:spAutoFit/>
          </a:bodyPr>
          <a:lstStyle/>
          <a:p>
            <a:r>
              <a:rPr lang="en-US" sz="1900" b="1" dirty="0"/>
              <a:t>AICTE STU ID : </a:t>
            </a:r>
            <a:r>
              <a:rPr lang="en-IN" sz="1900" b="1" dirty="0"/>
              <a:t>STU6a250dc03bfd81780813248</a:t>
            </a:r>
            <a:endParaRPr lang="en-US" sz="1900" b="1" dirty="0"/>
          </a:p>
        </p:txBody>
      </p:sp>
      <p:sp>
        <p:nvSpPr>
          <p:cNvPr id="10" name="TextBox 9">
            <a:extLst>
              <a:ext uri="{FF2B5EF4-FFF2-40B4-BE49-F238E27FC236}">
                <a16:creationId xmlns:a16="http://schemas.microsoft.com/office/drawing/2014/main" id="{2E78EE13-7D04-5B0F-EC17-D2DB21F1EC5C}"/>
              </a:ext>
            </a:extLst>
          </p:cNvPr>
          <p:cNvSpPr txBox="1"/>
          <p:nvPr/>
        </p:nvSpPr>
        <p:spPr>
          <a:xfrm>
            <a:off x="454716" y="3172700"/>
            <a:ext cx="10928006" cy="2015936"/>
          </a:xfrm>
          <a:prstGeom prst="rect">
            <a:avLst/>
          </a:prstGeom>
          <a:noFill/>
        </p:spPr>
        <p:txBody>
          <a:bodyPr wrap="square" rtlCol="0">
            <a:spAutoFit/>
          </a:bodyPr>
          <a:lstStyle/>
          <a:p>
            <a:endParaRPr lang="en-IN" sz="2400" dirty="0">
              <a:latin typeface="Trebuchet MS (Body)"/>
            </a:endParaRPr>
          </a:p>
          <a:p>
            <a:r>
              <a:rPr lang="en-IN" sz="2400" dirty="0">
                <a:latin typeface="Trebuchet MS (Body)"/>
              </a:rPr>
              <a:t>Student </a:t>
            </a:r>
            <a:r>
              <a:rPr lang="en-IN" sz="2900" dirty="0">
                <a:latin typeface="Trebuchet MS (Body)"/>
              </a:rPr>
              <a:t>Name</a:t>
            </a:r>
            <a:r>
              <a:rPr lang="en-IN" sz="2400" dirty="0">
                <a:latin typeface="Trebuchet MS (Body)"/>
              </a:rPr>
              <a:t> – More Maurvika Kisan</a:t>
            </a:r>
          </a:p>
          <a:p>
            <a:endParaRPr lang="en-IN" sz="2400" dirty="0">
              <a:latin typeface="Trebuchet MS (Body)"/>
            </a:endParaRPr>
          </a:p>
          <a:p>
            <a:r>
              <a:rPr lang="en-IN" sz="2400" dirty="0">
                <a:latin typeface="Trebuchet MS (Body)"/>
              </a:rPr>
              <a:t>College Name – R. C. Patel College of Engineering and Polytechnic, </a:t>
            </a:r>
            <a:r>
              <a:rPr lang="en-IN" sz="2400" dirty="0" err="1">
                <a:latin typeface="Trebuchet MS (Body)"/>
              </a:rPr>
              <a:t>Shirpur</a:t>
            </a:r>
            <a:endParaRPr lang="en-IN" sz="2400" dirty="0">
              <a:latin typeface="Trebuchet MS (Body)"/>
            </a:endParaRPr>
          </a:p>
          <a:p>
            <a:endParaRPr lang="en-IN" sz="2400" dirty="0">
              <a:latin typeface="Trebuchet MS (Body)"/>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737904"/>
            <a:ext cx="7183120" cy="3607987"/>
          </a:xfrm>
        </p:spPr>
        <p:txBody>
          <a:bodyPr vert="horz" lIns="91440" tIns="45720" rIns="91440" bIns="45720" rtlCol="0" anchor="t">
            <a:normAutofit fontScale="70000" lnSpcReduction="20000"/>
          </a:bodyPr>
          <a:lstStyle/>
          <a:p>
            <a:pPr algn="just">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CFF8566F-31BB-95C9-1D35-06BF6F8AFB3A}"/>
              </a:ext>
            </a:extLst>
          </p:cNvPr>
          <p:cNvSpPr txBox="1"/>
          <p:nvPr/>
        </p:nvSpPr>
        <p:spPr>
          <a:xfrm>
            <a:off x="660399" y="2153265"/>
            <a:ext cx="7923162" cy="2031325"/>
          </a:xfrm>
          <a:prstGeom prst="rect">
            <a:avLst/>
          </a:prstGeom>
          <a:noFill/>
        </p:spPr>
        <p:txBody>
          <a:bodyPr wrap="square" rtlCol="0">
            <a:spAutoFit/>
          </a:bodyPr>
          <a:lstStyle/>
          <a:p>
            <a:pPr algn="just"/>
            <a:r>
              <a:rPr lang="en-IN" b="1" dirty="0"/>
              <a:t>Seasonal Agriculture Performance Analysis</a:t>
            </a:r>
            <a:r>
              <a:rPr lang="en-IN" dirty="0"/>
              <a:t> </a:t>
            </a:r>
            <a:r>
              <a:rPr lang="en-IN" dirty="0" err="1"/>
              <a:t>analyzes</a:t>
            </a:r>
            <a:r>
              <a:rPr lang="en-IN" dirty="0"/>
              <a:t> agricultural data to understand how farming performance changes across different seasons. Using Python, the project cleans and explores the dataset, compares seasonal patterns, and uses graphs and statistical analysis to identify trends, relationships, and variations. The goal is to transform raw agricultural data into meaningful insights that can help understand seasonal farming performance.</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777580"/>
            <a:ext cx="8874925" cy="3990023"/>
          </a:xfrm>
        </p:spPr>
        <p:txBody>
          <a:bodyPr>
            <a:normAutofit fontScale="47500" lnSpcReduction="20000"/>
          </a:bodyPr>
          <a:lstStyle/>
          <a:p>
            <a:pPr marL="0" indent="0" algn="just">
              <a:buNone/>
            </a:pPr>
            <a:r>
              <a:rPr lang="en-IN" sz="3600" dirty="0"/>
              <a:t>The main end users of this project are the people who need to </a:t>
            </a:r>
            <a:r>
              <a:rPr lang="en-IN" sz="3600" b="1" dirty="0"/>
              <a:t>understand agricultural performance and make better decisions based on seasonal data</a:t>
            </a:r>
            <a:r>
              <a:rPr lang="en-IN" sz="3600" dirty="0"/>
              <a:t>:</a:t>
            </a:r>
          </a:p>
          <a:p>
            <a:pPr lvl="0" algn="just"/>
            <a:r>
              <a:rPr lang="en-IN" sz="3600" b="1" dirty="0"/>
              <a:t>Farmers</a:t>
            </a:r>
            <a:r>
              <a:rPr lang="en-IN" sz="3600" dirty="0"/>
              <a:t> – to understand which seasons and conditions are more </a:t>
            </a:r>
            <a:r>
              <a:rPr lang="en-IN" sz="3600" dirty="0" err="1"/>
              <a:t>favorable</a:t>
            </a:r>
            <a:r>
              <a:rPr lang="en-IN" sz="3600" dirty="0"/>
              <a:t> for different crops. </a:t>
            </a:r>
          </a:p>
          <a:p>
            <a:pPr lvl="0" algn="just"/>
            <a:r>
              <a:rPr lang="en-IN" sz="3600" b="1" dirty="0"/>
              <a:t>Agricultural officers and departments</a:t>
            </a:r>
            <a:r>
              <a:rPr lang="en-IN" sz="3600" dirty="0"/>
              <a:t> – to study seasonal agricultural trends and plan support or schemes. </a:t>
            </a:r>
          </a:p>
          <a:p>
            <a:pPr lvl="0" algn="just"/>
            <a:r>
              <a:rPr lang="en-IN" sz="3600" b="1" dirty="0"/>
              <a:t>Agricultural researchers and students</a:t>
            </a:r>
            <a:r>
              <a:rPr lang="en-IN" sz="3600" dirty="0"/>
              <a:t> – to </a:t>
            </a:r>
            <a:r>
              <a:rPr lang="en-IN" sz="3600" dirty="0" err="1"/>
              <a:t>analyze</a:t>
            </a:r>
            <a:r>
              <a:rPr lang="en-IN" sz="3600" dirty="0"/>
              <a:t> patterns and relationships in agricultural data. </a:t>
            </a:r>
          </a:p>
          <a:p>
            <a:pPr lvl="0" algn="just"/>
            <a:r>
              <a:rPr lang="en-IN" sz="3600" b="1" dirty="0"/>
              <a:t>Agribusiness and market planners</a:t>
            </a:r>
            <a:r>
              <a:rPr lang="en-IN" sz="3600" dirty="0"/>
              <a:t> – to understand production trends that may affect planning and supply. </a:t>
            </a:r>
          </a:p>
          <a:p>
            <a:pPr lvl="0" algn="just"/>
            <a:r>
              <a:rPr lang="en-IN" sz="3600" b="1" dirty="0"/>
              <a:t>Policy makers</a:t>
            </a:r>
            <a:r>
              <a:rPr lang="en-IN" sz="3600" dirty="0"/>
              <a:t> – to use data-based insights while making agricultural policies and resource-allocation decisions.</a:t>
            </a:r>
          </a:p>
          <a:p>
            <a:pPr marL="0" indent="0" algn="just">
              <a:buNone/>
            </a:pPr>
            <a:r>
              <a:rPr lang="en-IN" sz="3600" dirty="0"/>
              <a:t>The project is useful for anyone who wants to turn agricultural data into </a:t>
            </a:r>
            <a:r>
              <a:rPr lang="en-IN" sz="3600" b="1" dirty="0"/>
              <a:t>easy-to-understand seasonal insights for better planning and decision-making.</a:t>
            </a:r>
            <a:endParaRPr lang="en-IN" sz="3600" dirty="0"/>
          </a:p>
          <a:p>
            <a:pPr lvl="0" algn="just"/>
            <a:endParaRPr lang="en-IN" sz="3600" dirty="0"/>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580679"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608788" cy="2834640"/>
          </a:xfrm>
        </p:spPr>
        <p:txBody>
          <a:bodyPr>
            <a:normAutofit fontScale="85000" lnSpcReduction="10000"/>
          </a:bodyPr>
          <a:lstStyle/>
          <a:p>
            <a:pPr lvl="0" algn="just"/>
            <a:r>
              <a:rPr lang="en-IN" b="1" dirty="0"/>
              <a:t>Python</a:t>
            </a:r>
            <a:r>
              <a:rPr lang="en-IN" dirty="0"/>
              <a:t> – Main programming language for the project. </a:t>
            </a:r>
          </a:p>
          <a:p>
            <a:pPr lvl="0" algn="just"/>
            <a:r>
              <a:rPr lang="en-IN" b="1" dirty="0"/>
              <a:t>Pandas</a:t>
            </a:r>
            <a:r>
              <a:rPr lang="en-IN" dirty="0"/>
              <a:t> – Used to clean, organize, filter, and </a:t>
            </a:r>
            <a:r>
              <a:rPr lang="en-IN" dirty="0" err="1"/>
              <a:t>analyze</a:t>
            </a:r>
            <a:r>
              <a:rPr lang="en-IN" dirty="0"/>
              <a:t> the agricultural data. </a:t>
            </a:r>
          </a:p>
          <a:p>
            <a:pPr lvl="0" algn="just"/>
            <a:r>
              <a:rPr lang="en-IN" b="1" dirty="0"/>
              <a:t>NumPy</a:t>
            </a:r>
            <a:r>
              <a:rPr lang="en-IN" dirty="0"/>
              <a:t> – Used for numerical calculations and data operations. </a:t>
            </a:r>
          </a:p>
          <a:p>
            <a:pPr lvl="0" algn="just"/>
            <a:r>
              <a:rPr lang="en-IN" b="1" dirty="0"/>
              <a:t>Matplotlib</a:t>
            </a:r>
            <a:r>
              <a:rPr lang="en-IN" dirty="0"/>
              <a:t> – Used to create graphs and visualize seasonal patterns and trends. </a:t>
            </a:r>
          </a:p>
          <a:p>
            <a:pPr lvl="0" algn="just"/>
            <a:r>
              <a:rPr lang="en-IN" b="1" dirty="0"/>
              <a:t>Jupyter Notebook</a:t>
            </a:r>
            <a:r>
              <a:rPr lang="en-IN" dirty="0"/>
              <a:t> – Used as the working environment to write and run the analysis step by step.</a:t>
            </a:r>
          </a:p>
          <a:p>
            <a:pPr lvl="1" algn="just">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101358"/>
            <a:ext cx="3669737" cy="425824"/>
          </a:xfrm>
        </p:spPr>
        <p:txBody>
          <a:bodyPr>
            <a:normAutofit fontScale="90000"/>
          </a:bodyPr>
          <a:lstStyle/>
          <a:p>
            <a:r>
              <a:rPr lang="en-GB" sz="2900" dirty="0"/>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267ABD5-BAFD-6452-ED76-63BFC5B5DB1D}"/>
              </a:ext>
            </a:extLst>
          </p:cNvPr>
          <p:cNvPicPr>
            <a:picLocks noChangeAspect="1"/>
          </p:cNvPicPr>
          <p:nvPr/>
        </p:nvPicPr>
        <p:blipFill>
          <a:blip r:embed="rId3"/>
          <a:stretch>
            <a:fillRect/>
          </a:stretch>
        </p:blipFill>
        <p:spPr>
          <a:xfrm>
            <a:off x="240838" y="643662"/>
            <a:ext cx="3423706" cy="2627121"/>
          </a:xfrm>
          <a:prstGeom prst="rect">
            <a:avLst/>
          </a:prstGeom>
        </p:spPr>
      </p:pic>
      <p:sp>
        <p:nvSpPr>
          <p:cNvPr id="10" name="TextBox 9">
            <a:extLst>
              <a:ext uri="{FF2B5EF4-FFF2-40B4-BE49-F238E27FC236}">
                <a16:creationId xmlns:a16="http://schemas.microsoft.com/office/drawing/2014/main" id="{96AFAFDA-8FDA-5683-B8C6-76A4D4020BB2}"/>
              </a:ext>
            </a:extLst>
          </p:cNvPr>
          <p:cNvSpPr txBox="1"/>
          <p:nvPr/>
        </p:nvSpPr>
        <p:spPr>
          <a:xfrm>
            <a:off x="3564293" y="823580"/>
            <a:ext cx="7063273" cy="784830"/>
          </a:xfrm>
          <a:prstGeom prst="rect">
            <a:avLst/>
          </a:prstGeom>
          <a:noFill/>
        </p:spPr>
        <p:txBody>
          <a:bodyPr wrap="square" rtlCol="0">
            <a:spAutoFit/>
          </a:bodyPr>
          <a:lstStyle/>
          <a:p>
            <a:pPr algn="just"/>
            <a:r>
              <a:rPr lang="en-IN" sz="1500" dirty="0"/>
              <a:t>Kharif has the highest number of records with </a:t>
            </a:r>
            <a:r>
              <a:rPr lang="en-IN" sz="1500" b="1" dirty="0"/>
              <a:t>1,779 farms</a:t>
            </a:r>
            <a:r>
              <a:rPr lang="en-IN" sz="1500" dirty="0"/>
              <a:t>, followed by Rabi with </a:t>
            </a:r>
            <a:r>
              <a:rPr lang="en-IN" sz="1500" b="1" dirty="0"/>
              <a:t>1,627 farms</a:t>
            </a:r>
            <a:r>
              <a:rPr lang="en-IN" sz="1500" dirty="0"/>
              <a:t> and Zaid with </a:t>
            </a:r>
            <a:r>
              <a:rPr lang="en-IN" sz="1500" b="1" dirty="0"/>
              <a:t>594 farms</a:t>
            </a:r>
            <a:r>
              <a:rPr lang="en-IN" sz="1500" dirty="0"/>
              <a:t>. Therefore, the dataset has much more representation from Kharif and Rabi than Zaid.</a:t>
            </a:r>
          </a:p>
        </p:txBody>
      </p:sp>
      <p:pic>
        <p:nvPicPr>
          <p:cNvPr id="12" name="Picture 11">
            <a:extLst>
              <a:ext uri="{FF2B5EF4-FFF2-40B4-BE49-F238E27FC236}">
                <a16:creationId xmlns:a16="http://schemas.microsoft.com/office/drawing/2014/main" id="{9CDA3913-0177-60A4-CE9C-601A6801FD88}"/>
              </a:ext>
            </a:extLst>
          </p:cNvPr>
          <p:cNvPicPr>
            <a:picLocks noChangeAspect="1"/>
          </p:cNvPicPr>
          <p:nvPr/>
        </p:nvPicPr>
        <p:blipFill>
          <a:blip r:embed="rId4"/>
          <a:stretch>
            <a:fillRect/>
          </a:stretch>
        </p:blipFill>
        <p:spPr>
          <a:xfrm>
            <a:off x="8625644" y="1957222"/>
            <a:ext cx="3325518" cy="2712922"/>
          </a:xfrm>
          <a:prstGeom prst="rect">
            <a:avLst/>
          </a:prstGeom>
        </p:spPr>
      </p:pic>
      <p:sp>
        <p:nvSpPr>
          <p:cNvPr id="13" name="TextBox 12">
            <a:extLst>
              <a:ext uri="{FF2B5EF4-FFF2-40B4-BE49-F238E27FC236}">
                <a16:creationId xmlns:a16="http://schemas.microsoft.com/office/drawing/2014/main" id="{FCF60814-9FE4-948B-88D4-30B7880FB992}"/>
              </a:ext>
            </a:extLst>
          </p:cNvPr>
          <p:cNvSpPr txBox="1"/>
          <p:nvPr/>
        </p:nvSpPr>
        <p:spPr>
          <a:xfrm>
            <a:off x="4096138" y="2430562"/>
            <a:ext cx="4292082" cy="1938992"/>
          </a:xfrm>
          <a:prstGeom prst="rect">
            <a:avLst/>
          </a:prstGeom>
          <a:noFill/>
        </p:spPr>
        <p:txBody>
          <a:bodyPr wrap="square" rtlCol="0">
            <a:spAutoFit/>
          </a:bodyPr>
          <a:lstStyle/>
          <a:p>
            <a:pPr algn="just"/>
            <a:r>
              <a:rPr lang="en-IN" sz="1500" dirty="0"/>
              <a:t>The yield distribution is </a:t>
            </a:r>
            <a:r>
              <a:rPr lang="en-IN" sz="1500" b="1" dirty="0"/>
              <a:t>right-skewed</a:t>
            </a:r>
            <a:r>
              <a:rPr lang="en-IN" sz="1500" dirty="0"/>
              <a:t>. Most farms have relatively low yield values, while a smaller number of farms have very high yields. The overall median yield is around </a:t>
            </a:r>
            <a:r>
              <a:rPr lang="en-IN" sz="1500" b="1" dirty="0"/>
              <a:t>1.74 tonnes/ha</a:t>
            </a:r>
            <a:r>
              <a:rPr lang="en-IN" sz="1500" dirty="0"/>
              <a:t>, whereas the maximum reaches </a:t>
            </a:r>
            <a:r>
              <a:rPr lang="en-IN" sz="1500" b="1" dirty="0"/>
              <a:t>101.44 tonnes/ha</a:t>
            </a:r>
            <a:r>
              <a:rPr lang="en-IN" sz="1500" dirty="0"/>
              <a:t>. This large difference is mainly influenced by high-yield crops such as Sugarcane.</a:t>
            </a:r>
          </a:p>
        </p:txBody>
      </p:sp>
      <p:pic>
        <p:nvPicPr>
          <p:cNvPr id="15" name="Picture 14">
            <a:extLst>
              <a:ext uri="{FF2B5EF4-FFF2-40B4-BE49-F238E27FC236}">
                <a16:creationId xmlns:a16="http://schemas.microsoft.com/office/drawing/2014/main" id="{65345E99-8CBA-9F40-7DEA-F42A9A18D1A5}"/>
              </a:ext>
            </a:extLst>
          </p:cNvPr>
          <p:cNvPicPr>
            <a:picLocks noChangeAspect="1"/>
          </p:cNvPicPr>
          <p:nvPr/>
        </p:nvPicPr>
        <p:blipFill>
          <a:blip r:embed="rId5"/>
          <a:stretch>
            <a:fillRect/>
          </a:stretch>
        </p:blipFill>
        <p:spPr>
          <a:xfrm>
            <a:off x="320982" y="4103533"/>
            <a:ext cx="2910938" cy="2464907"/>
          </a:xfrm>
          <a:prstGeom prst="rect">
            <a:avLst/>
          </a:prstGeom>
        </p:spPr>
      </p:pic>
      <p:sp>
        <p:nvSpPr>
          <p:cNvPr id="18" name="TextBox 17">
            <a:extLst>
              <a:ext uri="{FF2B5EF4-FFF2-40B4-BE49-F238E27FC236}">
                <a16:creationId xmlns:a16="http://schemas.microsoft.com/office/drawing/2014/main" id="{B85A55FE-E8D9-2DE5-61AB-D0427013FC85}"/>
              </a:ext>
            </a:extLst>
          </p:cNvPr>
          <p:cNvSpPr txBox="1"/>
          <p:nvPr/>
        </p:nvSpPr>
        <p:spPr>
          <a:xfrm>
            <a:off x="3231920" y="4973766"/>
            <a:ext cx="6316825" cy="784830"/>
          </a:xfrm>
          <a:prstGeom prst="rect">
            <a:avLst/>
          </a:prstGeom>
          <a:noFill/>
        </p:spPr>
        <p:txBody>
          <a:bodyPr wrap="square" rtlCol="0">
            <a:spAutoFit/>
          </a:bodyPr>
          <a:lstStyle/>
          <a:p>
            <a:pPr algn="just"/>
            <a:r>
              <a:rPr lang="en-IN" sz="1500" dirty="0"/>
              <a:t>Kharif has the </a:t>
            </a:r>
            <a:r>
              <a:rPr lang="en-IN" sz="1500" b="1" dirty="0"/>
              <a:t>highest average yield</a:t>
            </a:r>
            <a:r>
              <a:rPr lang="en-IN" sz="1500" dirty="0"/>
              <a:t>, while Zaid has the lowest. The difference between Kharif and Zaid is about </a:t>
            </a:r>
            <a:r>
              <a:rPr lang="en-IN" sz="1500" b="1" dirty="0"/>
              <a:t>0.99 tonnes/ha</a:t>
            </a:r>
            <a:r>
              <a:rPr lang="en-IN" sz="1500" dirty="0"/>
              <a:t>, or approximately </a:t>
            </a:r>
            <a:r>
              <a:rPr lang="en-IN" sz="1500" b="1" dirty="0"/>
              <a:t>21.34%</a:t>
            </a:r>
            <a:r>
              <a:rPr lang="en-IN" sz="1500" dirty="0"/>
              <a:t> relative to Zaid's average.</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93614"/>
            <a:ext cx="1811604" cy="573308"/>
          </a:xfrm>
        </p:spPr>
        <p:txBody>
          <a:bodyPr>
            <a:normAutofit fontScale="90000"/>
          </a:bodyPr>
          <a:lstStyle/>
          <a:p>
            <a:r>
              <a:rPr lang="en-GB" sz="2600" dirty="0"/>
              <a:t>RESULTS</a:t>
            </a:r>
            <a:r>
              <a:rPr lang="en-GB" dirty="0"/>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084419" y="91054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E200D631-57BB-CA46-5AB1-E945A8A38A99}"/>
              </a:ext>
            </a:extLst>
          </p:cNvPr>
          <p:cNvPicPr>
            <a:picLocks noChangeAspect="1"/>
          </p:cNvPicPr>
          <p:nvPr/>
        </p:nvPicPr>
        <p:blipFill>
          <a:blip r:embed="rId3"/>
          <a:stretch>
            <a:fillRect/>
          </a:stretch>
        </p:blipFill>
        <p:spPr>
          <a:xfrm>
            <a:off x="231034" y="673082"/>
            <a:ext cx="3529204" cy="2535663"/>
          </a:xfrm>
          <a:prstGeom prst="rect">
            <a:avLst/>
          </a:prstGeom>
        </p:spPr>
      </p:pic>
      <p:sp>
        <p:nvSpPr>
          <p:cNvPr id="10" name="TextBox 9">
            <a:extLst>
              <a:ext uri="{FF2B5EF4-FFF2-40B4-BE49-F238E27FC236}">
                <a16:creationId xmlns:a16="http://schemas.microsoft.com/office/drawing/2014/main" id="{79D7DBAD-46D5-4567-BBA2-F079A5812E1E}"/>
              </a:ext>
            </a:extLst>
          </p:cNvPr>
          <p:cNvSpPr txBox="1"/>
          <p:nvPr/>
        </p:nvSpPr>
        <p:spPr>
          <a:xfrm>
            <a:off x="3850186" y="1156083"/>
            <a:ext cx="6652727" cy="784830"/>
          </a:xfrm>
          <a:prstGeom prst="rect">
            <a:avLst/>
          </a:prstGeom>
          <a:noFill/>
        </p:spPr>
        <p:txBody>
          <a:bodyPr wrap="square" rtlCol="0">
            <a:spAutoFit/>
          </a:bodyPr>
          <a:lstStyle/>
          <a:p>
            <a:pPr algn="just"/>
            <a:r>
              <a:rPr lang="en-IN" sz="1500" dirty="0"/>
              <a:t>Kharif is the most profitable season on average, while Zaid shows a </a:t>
            </a:r>
            <a:r>
              <a:rPr lang="en-IN" sz="1500" b="1" dirty="0"/>
              <a:t>negative average profit</a:t>
            </a:r>
            <a:r>
              <a:rPr lang="en-IN" sz="1500" dirty="0"/>
              <a:t>. Rabi remains profitable but at a much lower level than Khari</a:t>
            </a:r>
          </a:p>
        </p:txBody>
      </p:sp>
      <p:pic>
        <p:nvPicPr>
          <p:cNvPr id="13" name="Picture 12">
            <a:extLst>
              <a:ext uri="{FF2B5EF4-FFF2-40B4-BE49-F238E27FC236}">
                <a16:creationId xmlns:a16="http://schemas.microsoft.com/office/drawing/2014/main" id="{01DC034C-B093-0D47-BA49-040B18320015}"/>
              </a:ext>
            </a:extLst>
          </p:cNvPr>
          <p:cNvPicPr>
            <a:picLocks noChangeAspect="1"/>
          </p:cNvPicPr>
          <p:nvPr/>
        </p:nvPicPr>
        <p:blipFill>
          <a:blip r:embed="rId4"/>
          <a:stretch>
            <a:fillRect/>
          </a:stretch>
        </p:blipFill>
        <p:spPr>
          <a:xfrm>
            <a:off x="7446242" y="2135907"/>
            <a:ext cx="4514724" cy="2883148"/>
          </a:xfrm>
          <a:prstGeom prst="rect">
            <a:avLst/>
          </a:prstGeom>
        </p:spPr>
      </p:pic>
      <p:sp>
        <p:nvSpPr>
          <p:cNvPr id="15" name="TextBox 14">
            <a:extLst>
              <a:ext uri="{FF2B5EF4-FFF2-40B4-BE49-F238E27FC236}">
                <a16:creationId xmlns:a16="http://schemas.microsoft.com/office/drawing/2014/main" id="{C668D763-83DE-E93A-5541-72287DCA0889}"/>
              </a:ext>
            </a:extLst>
          </p:cNvPr>
          <p:cNvSpPr txBox="1"/>
          <p:nvPr/>
        </p:nvSpPr>
        <p:spPr>
          <a:xfrm>
            <a:off x="4329701" y="2578870"/>
            <a:ext cx="2946301" cy="1384995"/>
          </a:xfrm>
          <a:prstGeom prst="rect">
            <a:avLst/>
          </a:prstGeom>
          <a:noFill/>
        </p:spPr>
        <p:txBody>
          <a:bodyPr wrap="square" rtlCol="0">
            <a:spAutoFit/>
          </a:bodyPr>
          <a:lstStyle/>
          <a:p>
            <a:pPr algn="just"/>
            <a:r>
              <a:rPr lang="en-IN" sz="1400" b="1" dirty="0"/>
              <a:t>Rice is the most frequently represented crop in all three seasons.</a:t>
            </a:r>
            <a:r>
              <a:rPr lang="en-IN" sz="1400" dirty="0"/>
              <a:t> Kharif has the highest number of records for almost every crop, while Zaid has substantially fewer records.</a:t>
            </a:r>
          </a:p>
        </p:txBody>
      </p:sp>
      <p:pic>
        <p:nvPicPr>
          <p:cNvPr id="17" name="Picture 16">
            <a:extLst>
              <a:ext uri="{FF2B5EF4-FFF2-40B4-BE49-F238E27FC236}">
                <a16:creationId xmlns:a16="http://schemas.microsoft.com/office/drawing/2014/main" id="{2DBB20EE-022F-FF6B-C534-86DE464A85D2}"/>
              </a:ext>
            </a:extLst>
          </p:cNvPr>
          <p:cNvPicPr>
            <a:picLocks noChangeAspect="1"/>
          </p:cNvPicPr>
          <p:nvPr/>
        </p:nvPicPr>
        <p:blipFill>
          <a:blip r:embed="rId5"/>
          <a:stretch>
            <a:fillRect/>
          </a:stretch>
        </p:blipFill>
        <p:spPr>
          <a:xfrm>
            <a:off x="320982" y="4156905"/>
            <a:ext cx="5082646" cy="231501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469480" y="150000"/>
            <a:ext cx="1880430" cy="445488"/>
          </a:xfrm>
        </p:spPr>
        <p:txBody>
          <a:bodyPr>
            <a:normAutofit fontScale="90000"/>
          </a:bodyPr>
          <a:lstStyle/>
          <a:p>
            <a:r>
              <a:rPr lang="en-GB" sz="2600" dirty="0"/>
              <a:t>RESULTS </a:t>
            </a:r>
            <a:endParaRPr lang="en-IN" sz="26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04DCC40-3AB8-18D9-D953-60E60ED514EA}"/>
              </a:ext>
            </a:extLst>
          </p:cNvPr>
          <p:cNvPicPr>
            <a:picLocks noChangeAspect="1"/>
          </p:cNvPicPr>
          <p:nvPr/>
        </p:nvPicPr>
        <p:blipFill>
          <a:blip r:embed="rId3"/>
          <a:stretch>
            <a:fillRect/>
          </a:stretch>
        </p:blipFill>
        <p:spPr>
          <a:xfrm>
            <a:off x="557413" y="961202"/>
            <a:ext cx="3902827" cy="3699617"/>
          </a:xfrm>
          <a:prstGeom prst="rect">
            <a:avLst/>
          </a:prstGeom>
        </p:spPr>
      </p:pic>
      <p:sp>
        <p:nvSpPr>
          <p:cNvPr id="6" name="TextBox 5">
            <a:extLst>
              <a:ext uri="{FF2B5EF4-FFF2-40B4-BE49-F238E27FC236}">
                <a16:creationId xmlns:a16="http://schemas.microsoft.com/office/drawing/2014/main" id="{D5C4C269-7121-A60E-8441-8ED5A8A806CB}"/>
              </a:ext>
            </a:extLst>
          </p:cNvPr>
          <p:cNvSpPr txBox="1"/>
          <p:nvPr/>
        </p:nvSpPr>
        <p:spPr>
          <a:xfrm>
            <a:off x="4469708" y="1453880"/>
            <a:ext cx="6524107" cy="784830"/>
          </a:xfrm>
          <a:prstGeom prst="rect">
            <a:avLst/>
          </a:prstGeom>
          <a:noFill/>
        </p:spPr>
        <p:txBody>
          <a:bodyPr wrap="square" rtlCol="0">
            <a:spAutoFit/>
          </a:bodyPr>
          <a:lstStyle/>
          <a:p>
            <a:pPr algn="just"/>
            <a:r>
              <a:rPr lang="en-IN" sz="1500" dirty="0"/>
              <a:t>Zaid has the </a:t>
            </a:r>
            <a:r>
              <a:rPr lang="en-IN" sz="1500" b="1" dirty="0"/>
              <a:t>highest average water consumption</a:t>
            </a:r>
            <a:r>
              <a:rPr lang="en-IN" sz="1500" dirty="0"/>
              <a:t>, even though it has the lowest average yield. Rabi has the lowest average water usage among the three seasons. </a:t>
            </a:r>
          </a:p>
        </p:txBody>
      </p:sp>
      <p:pic>
        <p:nvPicPr>
          <p:cNvPr id="9" name="Picture 8">
            <a:extLst>
              <a:ext uri="{FF2B5EF4-FFF2-40B4-BE49-F238E27FC236}">
                <a16:creationId xmlns:a16="http://schemas.microsoft.com/office/drawing/2014/main" id="{1FB4F793-2634-4D45-F365-4999C2E6508B}"/>
              </a:ext>
            </a:extLst>
          </p:cNvPr>
          <p:cNvPicPr>
            <a:picLocks noChangeAspect="1"/>
          </p:cNvPicPr>
          <p:nvPr/>
        </p:nvPicPr>
        <p:blipFill>
          <a:blip r:embed="rId4"/>
          <a:stretch>
            <a:fillRect/>
          </a:stretch>
        </p:blipFill>
        <p:spPr>
          <a:xfrm>
            <a:off x="6384494" y="3246120"/>
            <a:ext cx="5573937" cy="3225800"/>
          </a:xfrm>
          <a:prstGeom prst="rect">
            <a:avLst/>
          </a:prstGeom>
        </p:spPr>
      </p:pic>
      <p:sp>
        <p:nvSpPr>
          <p:cNvPr id="16" name="TextBox 15">
            <a:extLst>
              <a:ext uri="{FF2B5EF4-FFF2-40B4-BE49-F238E27FC236}">
                <a16:creationId xmlns:a16="http://schemas.microsoft.com/office/drawing/2014/main" id="{8C9306EB-3614-9590-A6B5-D375F970EB05}"/>
              </a:ext>
            </a:extLst>
          </p:cNvPr>
          <p:cNvSpPr txBox="1"/>
          <p:nvPr/>
        </p:nvSpPr>
        <p:spPr>
          <a:xfrm>
            <a:off x="757974" y="5086925"/>
            <a:ext cx="5626520" cy="1384995"/>
          </a:xfrm>
          <a:prstGeom prst="rect">
            <a:avLst/>
          </a:prstGeom>
          <a:noFill/>
        </p:spPr>
        <p:txBody>
          <a:bodyPr wrap="square" rtlCol="0">
            <a:spAutoFit/>
          </a:bodyPr>
          <a:lstStyle/>
          <a:p>
            <a:pPr algn="just"/>
            <a:endParaRPr lang="en-IN" sz="1400" dirty="0"/>
          </a:p>
          <a:p>
            <a:pPr marL="285750" lvl="0" indent="-285750" algn="just">
              <a:buFont typeface="Arial" panose="020B0604020202020204" pitchFamily="34" charset="0"/>
              <a:buChar char="•"/>
            </a:pPr>
            <a:r>
              <a:rPr lang="en-IN" sz="1400" dirty="0"/>
              <a:t>Punjab performs exceptionally well in </a:t>
            </a:r>
            <a:r>
              <a:rPr lang="en-IN" sz="1400" b="1" dirty="0"/>
              <a:t>Rabi: 8.61 tonnes/ha</a:t>
            </a:r>
            <a:r>
              <a:rPr lang="en-IN" sz="1400" dirty="0"/>
              <a:t>. </a:t>
            </a:r>
          </a:p>
          <a:p>
            <a:pPr marL="285750" lvl="0" indent="-285750" algn="just">
              <a:buFont typeface="Arial" panose="020B0604020202020204" pitchFamily="34" charset="0"/>
              <a:buChar char="•"/>
            </a:pPr>
            <a:r>
              <a:rPr lang="en-IN" sz="1400" dirty="0"/>
              <a:t>Karnataka performs best in </a:t>
            </a:r>
            <a:r>
              <a:rPr lang="en-IN" sz="1400" b="1" dirty="0"/>
              <a:t>Zaid: 6.62 tonnes/ha</a:t>
            </a:r>
            <a:r>
              <a:rPr lang="en-IN" sz="1400" dirty="0"/>
              <a:t>. </a:t>
            </a:r>
          </a:p>
          <a:p>
            <a:pPr marL="285750" lvl="0" indent="-285750" algn="just">
              <a:buFont typeface="Arial" panose="020B0604020202020204" pitchFamily="34" charset="0"/>
              <a:buChar char="•"/>
            </a:pPr>
            <a:r>
              <a:rPr lang="en-IN" sz="1400" dirty="0"/>
              <a:t>Gujarat performs best in </a:t>
            </a:r>
            <a:r>
              <a:rPr lang="en-IN" sz="1400" b="1" dirty="0"/>
              <a:t>Kharif: 6.34 tonnes/ha</a:t>
            </a:r>
            <a:r>
              <a:rPr lang="en-IN" sz="1400" dirty="0"/>
              <a:t>. </a:t>
            </a:r>
          </a:p>
          <a:p>
            <a:pPr marL="285750" lvl="0" indent="-285750" algn="just">
              <a:buFont typeface="Arial" panose="020B0604020202020204" pitchFamily="34" charset="0"/>
              <a:buChar char="•"/>
            </a:pPr>
            <a:r>
              <a:rPr lang="en-IN" sz="1400" dirty="0"/>
              <a:t>Maharashtra has particularly low Zaid yield: </a:t>
            </a:r>
            <a:r>
              <a:rPr lang="en-IN" sz="1400" b="1" dirty="0"/>
              <a:t>2.27 tonnes/ha</a:t>
            </a:r>
            <a:r>
              <a:rPr lang="en-IN" sz="1400" dirty="0"/>
              <a:t>.</a:t>
            </a:r>
          </a:p>
          <a:p>
            <a:pPr marL="285750" indent="-285750" algn="just">
              <a:buFont typeface="Arial" panose="020B0604020202020204" pitchFamily="34" charset="0"/>
              <a:buChar char="•"/>
            </a:pPr>
            <a:endParaRPr lang="en-IN" sz="1400"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390822" y="-64163"/>
            <a:ext cx="1664120" cy="799450"/>
          </a:xfrm>
        </p:spPr>
        <p:txBody>
          <a:bodyPr>
            <a:normAutofit fontScale="90000"/>
          </a:bodyPr>
          <a:lstStyle/>
          <a:p>
            <a:r>
              <a:rPr lang="en-GB" sz="2600" dirty="0"/>
              <a:t>RESULTS</a:t>
            </a:r>
            <a:r>
              <a:rPr lang="en-GB" dirty="0"/>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183330" y="802333"/>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13247CE-0736-7D4D-A4B6-ABD55B6A5631}"/>
              </a:ext>
            </a:extLst>
          </p:cNvPr>
          <p:cNvPicPr>
            <a:picLocks noChangeAspect="1"/>
          </p:cNvPicPr>
          <p:nvPr/>
        </p:nvPicPr>
        <p:blipFill>
          <a:blip r:embed="rId3"/>
          <a:stretch>
            <a:fillRect/>
          </a:stretch>
        </p:blipFill>
        <p:spPr>
          <a:xfrm>
            <a:off x="390822" y="952155"/>
            <a:ext cx="3954872" cy="3106546"/>
          </a:xfrm>
          <a:prstGeom prst="rect">
            <a:avLst/>
          </a:prstGeom>
        </p:spPr>
      </p:pic>
      <p:sp>
        <p:nvSpPr>
          <p:cNvPr id="6" name="TextBox 5">
            <a:extLst>
              <a:ext uri="{FF2B5EF4-FFF2-40B4-BE49-F238E27FC236}">
                <a16:creationId xmlns:a16="http://schemas.microsoft.com/office/drawing/2014/main" id="{C43238D2-8774-14C9-2287-B2065BA147BE}"/>
              </a:ext>
            </a:extLst>
          </p:cNvPr>
          <p:cNvSpPr txBox="1"/>
          <p:nvPr/>
        </p:nvSpPr>
        <p:spPr>
          <a:xfrm>
            <a:off x="4345694" y="1202785"/>
            <a:ext cx="6471920" cy="1477328"/>
          </a:xfrm>
          <a:prstGeom prst="rect">
            <a:avLst/>
          </a:prstGeom>
          <a:noFill/>
        </p:spPr>
        <p:txBody>
          <a:bodyPr wrap="square" rtlCol="0">
            <a:spAutoFit/>
          </a:bodyPr>
          <a:lstStyle/>
          <a:p>
            <a:pPr algn="just"/>
            <a:r>
              <a:rPr lang="en-IN" sz="1500" dirty="0"/>
              <a:t>The box plot shows that yield varies substantially within each season. Kharif has the highest median yield (</a:t>
            </a:r>
            <a:r>
              <a:rPr lang="en-IN" sz="1500" b="1" dirty="0"/>
              <a:t>1.95 tonnes/ha</a:t>
            </a:r>
            <a:r>
              <a:rPr lang="en-IN" sz="1500" dirty="0"/>
              <a:t>), followed by Rabi (</a:t>
            </a:r>
            <a:r>
              <a:rPr lang="en-IN" sz="1500" b="1" dirty="0"/>
              <a:t>1.66</a:t>
            </a:r>
            <a:r>
              <a:rPr lang="en-IN" sz="1500" dirty="0"/>
              <a:t>) and Zaid (</a:t>
            </a:r>
            <a:r>
              <a:rPr lang="en-IN" sz="1500" b="1" dirty="0"/>
              <a:t>1.45</a:t>
            </a:r>
            <a:r>
              <a:rPr lang="en-IN" sz="1500" dirty="0"/>
              <a:t>). There are also several high-yield observations, especially from Sugarcane, which create visible outliers. The notebook identifies the highest-yield record as </a:t>
            </a:r>
            <a:r>
              <a:rPr lang="en-IN" sz="1500" b="1" dirty="0"/>
              <a:t>101.44 tonnes/ha for Sugarcane in Kharif</a:t>
            </a:r>
            <a:r>
              <a:rPr lang="en-IN" sz="1500" dirty="0"/>
              <a:t>.</a:t>
            </a:r>
          </a:p>
        </p:txBody>
      </p:sp>
      <p:pic>
        <p:nvPicPr>
          <p:cNvPr id="11" name="Picture 10">
            <a:extLst>
              <a:ext uri="{FF2B5EF4-FFF2-40B4-BE49-F238E27FC236}">
                <a16:creationId xmlns:a16="http://schemas.microsoft.com/office/drawing/2014/main" id="{E844DD6E-32A2-3825-360A-A78C14C723DC}"/>
              </a:ext>
            </a:extLst>
          </p:cNvPr>
          <p:cNvPicPr>
            <a:picLocks noChangeAspect="1"/>
          </p:cNvPicPr>
          <p:nvPr/>
        </p:nvPicPr>
        <p:blipFill>
          <a:blip r:embed="rId4"/>
          <a:stretch>
            <a:fillRect/>
          </a:stretch>
        </p:blipFill>
        <p:spPr>
          <a:xfrm>
            <a:off x="7599680" y="2949972"/>
            <a:ext cx="4332778" cy="3670256"/>
          </a:xfrm>
          <a:prstGeom prst="rect">
            <a:avLst/>
          </a:prstGeom>
        </p:spPr>
      </p:pic>
      <p:sp>
        <p:nvSpPr>
          <p:cNvPr id="13" name="TextBox 12">
            <a:extLst>
              <a:ext uri="{FF2B5EF4-FFF2-40B4-BE49-F238E27FC236}">
                <a16:creationId xmlns:a16="http://schemas.microsoft.com/office/drawing/2014/main" id="{4310B842-ABA6-4D25-91AB-A464809FA22F}"/>
              </a:ext>
            </a:extLst>
          </p:cNvPr>
          <p:cNvSpPr txBox="1"/>
          <p:nvPr/>
        </p:nvSpPr>
        <p:spPr>
          <a:xfrm>
            <a:off x="906534" y="5074848"/>
            <a:ext cx="6553200" cy="830997"/>
          </a:xfrm>
          <a:prstGeom prst="rect">
            <a:avLst/>
          </a:prstGeom>
          <a:noFill/>
        </p:spPr>
        <p:txBody>
          <a:bodyPr wrap="square" rtlCol="0">
            <a:spAutoFit/>
          </a:bodyPr>
          <a:lstStyle/>
          <a:p>
            <a:pPr algn="just"/>
            <a:r>
              <a:rPr lang="en-IN" sz="1600" dirty="0"/>
              <a:t>Kharif has the </a:t>
            </a:r>
            <a:r>
              <a:rPr lang="en-IN" sz="1600" b="1" dirty="0"/>
              <a:t>highest average disease/pest risk</a:t>
            </a:r>
            <a:r>
              <a:rPr lang="en-IN" sz="1600" dirty="0"/>
              <a:t>, followed by Rabi and Zaid. Therefore, </a:t>
            </a:r>
            <a:r>
              <a:rPr lang="en-IN" sz="1600" dirty="0" err="1"/>
              <a:t>Kharif's</a:t>
            </a:r>
            <a:r>
              <a:rPr lang="en-IN" sz="1600" dirty="0"/>
              <a:t> higher agricultural performance comes along with a higher recorded risk level in this dataset.</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320982" y="-139999"/>
            <a:ext cx="1585462" cy="666078"/>
          </a:xfrm>
        </p:spPr>
        <p:txBody>
          <a:bodyPr>
            <a:normAutofit fontScale="90000"/>
          </a:bodyPr>
          <a:lstStyle/>
          <a:p>
            <a:r>
              <a:rPr lang="en-GB" sz="2600" dirty="0"/>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2C6AABD-D17C-5386-BAED-346AE68D6D4F}"/>
              </a:ext>
            </a:extLst>
          </p:cNvPr>
          <p:cNvPicPr>
            <a:picLocks noChangeAspect="1"/>
          </p:cNvPicPr>
          <p:nvPr/>
        </p:nvPicPr>
        <p:blipFill>
          <a:blip r:embed="rId3"/>
          <a:stretch>
            <a:fillRect/>
          </a:stretch>
        </p:blipFill>
        <p:spPr>
          <a:xfrm>
            <a:off x="239703" y="617772"/>
            <a:ext cx="5856298" cy="1748149"/>
          </a:xfrm>
          <a:prstGeom prst="rect">
            <a:avLst/>
          </a:prstGeom>
        </p:spPr>
      </p:pic>
      <p:pic>
        <p:nvPicPr>
          <p:cNvPr id="10" name="Picture 9">
            <a:extLst>
              <a:ext uri="{FF2B5EF4-FFF2-40B4-BE49-F238E27FC236}">
                <a16:creationId xmlns:a16="http://schemas.microsoft.com/office/drawing/2014/main" id="{BEE7EDAC-CEE1-CAE1-C390-FAAE0B34228F}"/>
              </a:ext>
            </a:extLst>
          </p:cNvPr>
          <p:cNvPicPr>
            <a:picLocks noChangeAspect="1"/>
          </p:cNvPicPr>
          <p:nvPr/>
        </p:nvPicPr>
        <p:blipFill>
          <a:blip r:embed="rId4"/>
          <a:stretch>
            <a:fillRect/>
          </a:stretch>
        </p:blipFill>
        <p:spPr>
          <a:xfrm>
            <a:off x="1276694" y="2616744"/>
            <a:ext cx="3247470" cy="4048216"/>
          </a:xfrm>
          <a:prstGeom prst="rect">
            <a:avLst/>
          </a:prstGeom>
        </p:spPr>
      </p:pic>
      <p:pic>
        <p:nvPicPr>
          <p:cNvPr id="13" name="Picture 12">
            <a:extLst>
              <a:ext uri="{FF2B5EF4-FFF2-40B4-BE49-F238E27FC236}">
                <a16:creationId xmlns:a16="http://schemas.microsoft.com/office/drawing/2014/main" id="{5CE96CE2-EDC7-B294-CAFB-75BE4F4E5B86}"/>
              </a:ext>
            </a:extLst>
          </p:cNvPr>
          <p:cNvPicPr>
            <a:picLocks noChangeAspect="1"/>
          </p:cNvPicPr>
          <p:nvPr/>
        </p:nvPicPr>
        <p:blipFill>
          <a:blip r:embed="rId5"/>
          <a:stretch>
            <a:fillRect/>
          </a:stretch>
        </p:blipFill>
        <p:spPr>
          <a:xfrm>
            <a:off x="5588000" y="2868894"/>
            <a:ext cx="6120478" cy="324637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9A8CFBEC-0399-7C68-2728-3B8DD7D34E1F}"/>
              </a:ext>
            </a:extLst>
          </p:cNvPr>
          <p:cNvSpPr txBox="1"/>
          <p:nvPr/>
        </p:nvSpPr>
        <p:spPr>
          <a:xfrm>
            <a:off x="675956" y="1499376"/>
            <a:ext cx="9087475" cy="4247317"/>
          </a:xfrm>
          <a:prstGeom prst="rect">
            <a:avLst/>
          </a:prstGeom>
          <a:noFill/>
        </p:spPr>
        <p:txBody>
          <a:bodyPr wrap="square" rtlCol="0">
            <a:spAutoFit/>
          </a:bodyPr>
          <a:lstStyle/>
          <a:p>
            <a:pPr algn="just"/>
            <a:r>
              <a:rPr lang="en-IN" dirty="0"/>
              <a:t>In the future, this project can be expanded from basic seasonal analysis into a more useful </a:t>
            </a:r>
            <a:r>
              <a:rPr lang="en-IN" b="1" dirty="0"/>
              <a:t>agricultural decision-support system</a:t>
            </a:r>
            <a:r>
              <a:rPr lang="en-IN" dirty="0"/>
              <a:t>.</a:t>
            </a:r>
          </a:p>
          <a:p>
            <a:pPr marL="285750" lvl="0" indent="-285750" algn="just">
              <a:buFont typeface="Arial" panose="020B0604020202020204" pitchFamily="34" charset="0"/>
              <a:buChar char="•"/>
            </a:pPr>
            <a:r>
              <a:rPr lang="en-IN" b="1" dirty="0"/>
              <a:t>Real-time data:</a:t>
            </a:r>
            <a:r>
              <a:rPr lang="en-IN" dirty="0"/>
              <a:t> Add live weather, rainfall, soil, and market-price data for more practical analysis. </a:t>
            </a:r>
          </a:p>
          <a:p>
            <a:pPr marL="285750" lvl="0" indent="-285750" algn="just">
              <a:buFont typeface="Arial" panose="020B0604020202020204" pitchFamily="34" charset="0"/>
              <a:buChar char="•"/>
            </a:pPr>
            <a:r>
              <a:rPr lang="en-IN" b="1" dirty="0"/>
              <a:t>Crop prediction:</a:t>
            </a:r>
            <a:r>
              <a:rPr lang="en-IN" dirty="0"/>
              <a:t> Use machine learning to predict crop yield based on seasonal and environmental conditions. </a:t>
            </a:r>
          </a:p>
          <a:p>
            <a:pPr marL="285750" lvl="0" indent="-285750" algn="just">
              <a:buFont typeface="Arial" panose="020B0604020202020204" pitchFamily="34" charset="0"/>
              <a:buChar char="•"/>
            </a:pPr>
            <a:r>
              <a:rPr lang="en-IN" b="1" dirty="0"/>
              <a:t>Season recommendation:</a:t>
            </a:r>
            <a:r>
              <a:rPr lang="en-IN" dirty="0"/>
              <a:t> Suggest suitable crops or farming periods based on past performance and current conditions. </a:t>
            </a:r>
          </a:p>
          <a:p>
            <a:pPr marL="285750" lvl="0" indent="-285750" algn="just">
              <a:buFont typeface="Arial" panose="020B0604020202020204" pitchFamily="34" charset="0"/>
              <a:buChar char="•"/>
            </a:pPr>
            <a:r>
              <a:rPr lang="en-IN" b="1" dirty="0"/>
              <a:t>Regional analysis:</a:t>
            </a:r>
            <a:r>
              <a:rPr lang="en-IN" dirty="0"/>
              <a:t> Compare agricultural performance across different districts, states, or regions. </a:t>
            </a:r>
          </a:p>
          <a:p>
            <a:pPr marL="285750" lvl="0" indent="-285750" algn="just">
              <a:buFont typeface="Arial" panose="020B0604020202020204" pitchFamily="34" charset="0"/>
              <a:buChar char="•"/>
            </a:pPr>
            <a:r>
              <a:rPr lang="en-IN" b="1" dirty="0"/>
              <a:t>Interactive dashboard:</a:t>
            </a:r>
            <a:r>
              <a:rPr lang="en-IN" dirty="0"/>
              <a:t> Build a Power BI or web dashboard so farmers and agricultural officers can explore the results easily. </a:t>
            </a:r>
          </a:p>
          <a:p>
            <a:pPr marL="285750" lvl="0" indent="-285750" algn="just">
              <a:buFont typeface="Arial" panose="020B0604020202020204" pitchFamily="34" charset="0"/>
              <a:buChar char="•"/>
            </a:pPr>
            <a:r>
              <a:rPr lang="en-IN" b="1" dirty="0"/>
              <a:t>Early warnings:</a:t>
            </a:r>
            <a:r>
              <a:rPr lang="en-IN" dirty="0"/>
              <a:t> Identify unusual seasonal patterns that may indicate risks such as low yield or </a:t>
            </a:r>
            <a:r>
              <a:rPr lang="en-IN" dirty="0" err="1"/>
              <a:t>unfavorable</a:t>
            </a:r>
            <a:r>
              <a:rPr lang="en-IN" dirty="0"/>
              <a:t> conditions.</a:t>
            </a:r>
          </a:p>
          <a:p>
            <a:pPr algn="just"/>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https://github.com/AswiniKumar55/-Seasonal-Agriculture-Performance-Analysis-.git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41AF601-9CBF-ABFE-4753-B1C3582608F6}"/>
              </a:ext>
            </a:extLst>
          </p:cNvPr>
          <p:cNvPicPr>
            <a:picLocks noChangeAspect="1"/>
          </p:cNvPicPr>
          <p:nvPr/>
        </p:nvPicPr>
        <p:blipFill>
          <a:blip r:embed="rId3"/>
          <a:stretch>
            <a:fillRect/>
          </a:stretch>
        </p:blipFill>
        <p:spPr>
          <a:xfrm>
            <a:off x="675957" y="1608410"/>
            <a:ext cx="6855553" cy="483641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1456</TotalTime>
  <Words>922</Words>
  <Application>Microsoft Office PowerPoint</Application>
  <PresentationFormat>Widescreen</PresentationFormat>
  <Paragraphs>57</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Trebuchet MS</vt:lpstr>
      <vt:lpstr>Trebuchet MS (Body)</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Maurvika More</cp:lastModifiedBy>
  <cp:revision>100</cp:revision>
  <dcterms:created xsi:type="dcterms:W3CDTF">2021-07-11T13:13:15Z</dcterms:created>
  <dcterms:modified xsi:type="dcterms:W3CDTF">2026-09-15T14:48:37Z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